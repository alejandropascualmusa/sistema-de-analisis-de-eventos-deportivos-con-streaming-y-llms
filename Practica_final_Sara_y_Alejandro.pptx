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2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43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26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347" y="1218054"/>
            <a:ext cx="5329243" cy="125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ANÁLISIS DE EVENTOS STATSBOMB CON KAFKA, SPARK, LANGGRAPH Y RAG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205347" y="3151018"/>
            <a:ext cx="532924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PRÁCTICA FINAL BIG DATA PROCESSING II</a:t>
            </a:r>
            <a:endParaRPr lang="en-US" b="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DE252A"/>
              </a:clrFrom>
              <a:clrTo>
                <a:srgbClr val="DE252A">
                  <a:alpha val="0"/>
                </a:srgbClr>
              </a:clrTo>
            </a:clrChange>
            <a:alphaModFix amt="10000"/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735421" y="1577488"/>
            <a:ext cx="1428750" cy="142875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40B0C52-FB8B-82B1-7635-D1D1DC93318A}"/>
              </a:ext>
            </a:extLst>
          </p:cNvPr>
          <p:cNvSpPr/>
          <p:nvPr/>
        </p:nvSpPr>
        <p:spPr>
          <a:xfrm>
            <a:off x="205347" y="3977301"/>
            <a:ext cx="532924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Sara Mas y Alejandro Pascual</a:t>
            </a:r>
            <a:endParaRPr lang="en-US" sz="1600" b="1" dirty="0"/>
          </a:p>
        </p:txBody>
      </p:sp>
      <p:pic>
        <p:nvPicPr>
          <p:cNvPr id="7" name="Imagen 6" descr="StatsBomb anuncia la adquisición completa de Arqam para proporcionar más  del doble de datos que el resto de proveedores">
            <a:extLst>
              <a:ext uri="{FF2B5EF4-FFF2-40B4-BE49-F238E27FC236}">
                <a16:creationId xmlns:a16="http://schemas.microsoft.com/office/drawing/2014/main" id="{A0BBDAC8-930B-3F93-6D4F-E1CCC5154C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921" b="35405"/>
          <a:stretch>
            <a:fillRect/>
          </a:stretch>
        </p:blipFill>
        <p:spPr>
          <a:xfrm>
            <a:off x="5960940" y="3339034"/>
            <a:ext cx="2977713" cy="493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EL DESAFÍO DE LOS DATOS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499" y="1426880"/>
            <a:ext cx="401799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Complejidad en </a:t>
            </a:r>
            <a:r>
              <a:rPr lang="en-US" sz="2000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tiempo</a:t>
            </a:r>
            <a:r>
              <a:rPr lang="en-US" sz="20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real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" y="1848362"/>
            <a:ext cx="227434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1812643"/>
            <a:ext cx="366926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Datos JSON </a:t>
            </a: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complejos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57250" y="2069818"/>
            <a:ext cx="3669263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Eventos de StatsBomb con estructuras anidadas y múltiples niveles de información táctica.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99" y="2665595"/>
            <a:ext cx="181947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7250" y="2629877"/>
            <a:ext cx="3714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Dificultad de </a:t>
            </a: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57250" y="2887052"/>
            <a:ext cx="3714750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Procesar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una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gran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cantidad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de eventos por segundo manualmente es imposible para obtener insights inmediatos.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99" y="3482829"/>
            <a:ext cx="181947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50" y="3447111"/>
            <a:ext cx="3714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Escalabilidad</a:t>
            </a: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crítica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57250" y="3704286"/>
            <a:ext cx="3714750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Se requiere un pipeline que soporte el flujo masivo de datos sin pérdida de integridad.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786313" y="1260872"/>
            <a:ext cx="3786188" cy="30034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2000" dirty="0"/>
          </a:p>
        </p:txBody>
      </p:sp>
      <p:sp>
        <p:nvSpPr>
          <p:cNvPr id="15" name="Shape 9"/>
          <p:cNvSpPr/>
          <p:nvPr/>
        </p:nvSpPr>
        <p:spPr>
          <a:xfrm>
            <a:off x="4786313" y="1260872"/>
            <a:ext cx="57150" cy="3003472"/>
          </a:xfrm>
          <a:prstGeom prst="rect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DE5DAE5-61DC-9BDA-2EBC-43C6E83C5752}"/>
              </a:ext>
            </a:extLst>
          </p:cNvPr>
          <p:cNvSpPr txBox="1"/>
          <p:nvPr/>
        </p:nvSpPr>
        <p:spPr>
          <a:xfrm>
            <a:off x="4857750" y="1260872"/>
            <a:ext cx="31037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{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 err="1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type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:</a:t>
            </a:r>
            <a:r>
              <a:rPr lang="es-ES" sz="800" dirty="0">
                <a:solidFill>
                  <a:srgbClr val="FF0000"/>
                </a:solidFill>
                <a:latin typeface="Abadi" panose="020B0604020104020204" pitchFamily="34" charset="0"/>
                <a:cs typeface="Courier New" pitchFamily="34" charset="-120"/>
              </a:rPr>
              <a:t> 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{"id": 30, "</a:t>
            </a:r>
            <a:r>
              <a:rPr lang="es-ES" sz="800" dirty="0" err="1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name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": "Pass"},</a:t>
            </a:r>
          </a:p>
          <a:p>
            <a:endParaRPr lang="es-ES" sz="800" dirty="0">
              <a:solidFill>
                <a:schemeClr val="bg1"/>
              </a:solidFill>
              <a:latin typeface="Abadi" panose="020B0604020104020204" pitchFamily="34" charset="0"/>
              <a:cs typeface="Courier New" pitchFamily="34" charset="-120"/>
            </a:endParaRP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 err="1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team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:</a:t>
            </a:r>
            <a:r>
              <a:rPr lang="es-ES" sz="800" dirty="0">
                <a:solidFill>
                  <a:srgbClr val="FF0000"/>
                </a:solidFill>
                <a:latin typeface="Abadi" panose="020B0604020104020204" pitchFamily="34" charset="0"/>
                <a:cs typeface="Courier New" pitchFamily="34" charset="-120"/>
              </a:rPr>
              <a:t> 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{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  "id": 217,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  "</a:t>
            </a:r>
            <a:r>
              <a:rPr lang="es-ES" sz="800" dirty="0" err="1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name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": "Barcelona"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},</a:t>
            </a:r>
          </a:p>
          <a:p>
            <a:endParaRPr lang="es-ES" sz="800" dirty="0">
              <a:solidFill>
                <a:schemeClr val="bg1"/>
              </a:solidFill>
              <a:latin typeface="Abadi" panose="020B0604020104020204" pitchFamily="34" charset="0"/>
              <a:cs typeface="Courier New" pitchFamily="34" charset="-120"/>
            </a:endParaRP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 err="1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player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:</a:t>
            </a:r>
            <a:r>
              <a:rPr lang="es-ES" sz="800" dirty="0">
                <a:solidFill>
                  <a:srgbClr val="FF0000"/>
                </a:solidFill>
                <a:latin typeface="Abadi" panose="020B0604020104020204" pitchFamily="34" charset="0"/>
                <a:cs typeface="Courier New" pitchFamily="34" charset="-120"/>
              </a:rPr>
              <a:t> 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{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  "id": 5503,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  "</a:t>
            </a:r>
            <a:r>
              <a:rPr lang="es-ES" sz="800" dirty="0" err="1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name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": "Lionel Messi"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},</a:t>
            </a:r>
          </a:p>
          <a:p>
            <a:endParaRPr lang="es-ES" sz="800" dirty="0">
              <a:solidFill>
                <a:schemeClr val="bg1"/>
              </a:solidFill>
              <a:latin typeface="Abadi" panose="020B0604020104020204" pitchFamily="34" charset="0"/>
              <a:cs typeface="Courier New" pitchFamily="34" charset="-120"/>
            </a:endParaRP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 err="1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location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: [60.0, 40.0],</a:t>
            </a:r>
          </a:p>
          <a:p>
            <a:endParaRPr lang="es-ES" sz="800" dirty="0">
              <a:solidFill>
                <a:schemeClr val="bg1"/>
              </a:solidFill>
              <a:latin typeface="Abadi" panose="020B0604020104020204" pitchFamily="34" charset="0"/>
              <a:cs typeface="Courier New" pitchFamily="34" charset="-120"/>
            </a:endParaRP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 err="1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pass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: {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  "</a:t>
            </a:r>
            <a:r>
              <a:rPr lang="es-ES" sz="800" dirty="0" err="1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length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": 15.5,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  "angle": 0.12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},</a:t>
            </a:r>
          </a:p>
          <a:p>
            <a:endParaRPr lang="es-ES" sz="800" dirty="0">
              <a:solidFill>
                <a:schemeClr val="bg1"/>
              </a:solidFill>
              <a:latin typeface="Abadi" panose="020B0604020104020204" pitchFamily="34" charset="0"/>
              <a:cs typeface="Courier New" pitchFamily="34" charset="-120"/>
            </a:endParaRP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  </a:t>
            </a:r>
            <a:r>
              <a:rPr lang="es-ES" sz="800" dirty="0">
                <a:solidFill>
                  <a:srgbClr val="EF233C"/>
                </a:solidFill>
                <a:latin typeface="Abadi" panose="020B0604020104020204" pitchFamily="34" charset="0"/>
                <a:cs typeface="Courier New" pitchFamily="34" charset="-120"/>
              </a:rPr>
              <a:t>"minute"</a:t>
            </a:r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: 12</a:t>
            </a: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}</a:t>
            </a:r>
          </a:p>
          <a:p>
            <a:endParaRPr lang="es-ES" sz="800" dirty="0">
              <a:solidFill>
                <a:schemeClr val="bg1"/>
              </a:solidFill>
              <a:latin typeface="Abadi" panose="020B0604020104020204" pitchFamily="34" charset="0"/>
              <a:cs typeface="Courier New" pitchFamily="34" charset="-120"/>
            </a:endParaRPr>
          </a:p>
          <a:p>
            <a:r>
              <a:rPr lang="es-ES" sz="800" dirty="0">
                <a:solidFill>
                  <a:schemeClr val="bg1"/>
                </a:solidFill>
                <a:latin typeface="Abadi" panose="020B0604020104020204" pitchFamily="34" charset="0"/>
                <a:cs typeface="Courier New" pitchFamily="34" charset="-120"/>
              </a:rPr>
              <a:t>// +50 campos adicionales por evento...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ARQUITECTURA DEL SISTEMA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03707" y="2099560"/>
            <a:ext cx="99283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STATSBOMB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85749" y="2336244"/>
            <a:ext cx="828753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Eventos JSON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527" y="1720918"/>
            <a:ext cx="133945" cy="214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8769" y="2091452"/>
            <a:ext cx="54021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KAFKA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903891" y="2336244"/>
            <a:ext cx="1049967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Broker Streaming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277" y="1720918"/>
            <a:ext cx="133945" cy="2143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593708" y="2091452"/>
            <a:ext cx="5278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SPARK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3219630" y="2336244"/>
            <a:ext cx="1275990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Structured Streaming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027" y="1720918"/>
            <a:ext cx="133945" cy="214313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852" y="1546622"/>
            <a:ext cx="375047" cy="42862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906048" y="2091452"/>
            <a:ext cx="76065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PARQUET</a:t>
            </a:r>
            <a:endParaRPr lang="en-US" sz="1400" dirty="0"/>
          </a:p>
        </p:txBody>
      </p:sp>
      <p:sp>
        <p:nvSpPr>
          <p:cNvPr id="17" name="Text 8"/>
          <p:cNvSpPr/>
          <p:nvPr/>
        </p:nvSpPr>
        <p:spPr>
          <a:xfrm>
            <a:off x="4929708" y="2336244"/>
            <a:ext cx="713337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Persistencia</a:t>
            </a:r>
            <a:endParaRPr lang="en-US" sz="11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777" y="1720918"/>
            <a:ext cx="133945" cy="214313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3" y="1546622"/>
            <a:ext cx="428625" cy="42862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6355316" y="2091452"/>
            <a:ext cx="71962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RAG + AI</a:t>
            </a:r>
            <a:endParaRPr lang="en-US" sz="1400" dirty="0"/>
          </a:p>
        </p:txBody>
      </p:sp>
      <p:sp>
        <p:nvSpPr>
          <p:cNvPr id="21" name="Text 10"/>
          <p:cNvSpPr/>
          <p:nvPr/>
        </p:nvSpPr>
        <p:spPr>
          <a:xfrm>
            <a:off x="6110793" y="2336244"/>
            <a:ext cx="1208664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LangGraph / Ollama</a:t>
            </a:r>
            <a:endParaRPr lang="en-US" sz="11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527" y="1720918"/>
            <a:ext cx="133945" cy="214313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3141" y="1546622"/>
            <a:ext cx="321469" cy="428625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7764765" y="2091452"/>
            <a:ext cx="75822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INFORME</a:t>
            </a:r>
            <a:endParaRPr lang="en-US" sz="1400" dirty="0"/>
          </a:p>
        </p:txBody>
      </p:sp>
      <p:sp>
        <p:nvSpPr>
          <p:cNvPr id="25" name="Text 12"/>
          <p:cNvSpPr/>
          <p:nvPr/>
        </p:nvSpPr>
        <p:spPr>
          <a:xfrm>
            <a:off x="7587633" y="2336244"/>
            <a:ext cx="1112485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HTML / Markdown</a:t>
            </a:r>
            <a:endParaRPr lang="en-US" sz="1100" dirty="0"/>
          </a:p>
        </p:txBody>
      </p:sp>
      <p:sp>
        <p:nvSpPr>
          <p:cNvPr id="26" name="Text 13"/>
          <p:cNvSpPr/>
          <p:nvPr/>
        </p:nvSpPr>
        <p:spPr>
          <a:xfrm>
            <a:off x="428625" y="2966777"/>
            <a:ext cx="40005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Ingesta y procesamiento</a:t>
            </a:r>
            <a:endParaRPr lang="en-US" sz="1600" dirty="0"/>
          </a:p>
        </p:txBody>
      </p:sp>
      <p:sp>
        <p:nvSpPr>
          <p:cNvPr id="27" name="Text 14"/>
          <p:cNvSpPr/>
          <p:nvPr/>
        </p:nvSpPr>
        <p:spPr>
          <a:xfrm>
            <a:off x="428625" y="3254313"/>
            <a:ext cx="40005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Pipeline desacoplado que garantiza escalabilidad y manejo de ráfagas de datos deportivos.</a:t>
            </a:r>
            <a:endParaRPr lang="en-US" sz="1200" dirty="0"/>
          </a:p>
        </p:txBody>
      </p:sp>
      <p:sp>
        <p:nvSpPr>
          <p:cNvPr id="28" name="Text 15"/>
          <p:cNvSpPr/>
          <p:nvPr/>
        </p:nvSpPr>
        <p:spPr>
          <a:xfrm>
            <a:off x="4714875" y="2966777"/>
            <a:ext cx="40005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Inteligencia generativa</a:t>
            </a:r>
            <a:endParaRPr lang="en-US" sz="1600" dirty="0"/>
          </a:p>
        </p:txBody>
      </p:sp>
      <p:sp>
        <p:nvSpPr>
          <p:cNvPr id="29" name="Text 16"/>
          <p:cNvSpPr/>
          <p:nvPr/>
        </p:nvSpPr>
        <p:spPr>
          <a:xfrm>
            <a:off x="4714875" y="3254313"/>
            <a:ext cx="40005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Uso de agentes para transformar métricas crudas en informes tácticos narrativos.</a:t>
            </a:r>
            <a:endParaRPr lang="en-US" sz="1200" dirty="0"/>
          </a:p>
        </p:txBody>
      </p:sp>
      <p:pic>
        <p:nvPicPr>
          <p:cNvPr id="30" name="Imagen 29" descr="Jobs at Statsbomb | Jobs In Football">
            <a:extLst>
              <a:ext uri="{FF2B5EF4-FFF2-40B4-BE49-F238E27FC236}">
                <a16:creationId xmlns:a16="http://schemas.microsoft.com/office/drawing/2014/main" id="{2B3791DA-B7F7-D634-4FCE-61E93D07D9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668" y="1480104"/>
            <a:ext cx="561660" cy="56166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581FC96B-2959-C622-7B92-EB68F92AF0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651" y="1627175"/>
            <a:ext cx="1038917" cy="401798"/>
          </a:xfrm>
          <a:prstGeom prst="rect">
            <a:avLst/>
          </a:prstGeom>
        </p:spPr>
      </p:pic>
      <p:pic>
        <p:nvPicPr>
          <p:cNvPr id="35" name="Imagen 34" descr="Una Guía Para Principiantes - Apache Spark">
            <a:extLst>
              <a:ext uri="{FF2B5EF4-FFF2-40B4-BE49-F238E27FC236}">
                <a16:creationId xmlns:a16="http://schemas.microsoft.com/office/drawing/2014/main" id="{7B4D9BFB-322C-1EBB-156E-F79AACFFBB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4787" y="1489264"/>
            <a:ext cx="1030541" cy="5363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KAFKA: EL CORAZÓN DEL STREAMING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199529"/>
            <a:ext cx="41021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Gestión de </a:t>
            </a:r>
            <a:r>
              <a:rPr lang="en-US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eventos</a:t>
            </a: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en “</a:t>
            </a:r>
            <a:r>
              <a:rPr lang="en-US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tiempo</a:t>
            </a: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real”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9" y="1681862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6618" y="1663266"/>
            <a:ext cx="35218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Broker de </a:t>
            </a: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mensajería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86618" y="1972233"/>
            <a:ext cx="3471070" cy="376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Actúa como un buffer resiliente que recibe y almacena eventos de StatsBomb de forma segura.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86618" y="2526543"/>
            <a:ext cx="34710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Desacoplamiento</a:t>
            </a: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total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86618" y="2835511"/>
            <a:ext cx="3471069" cy="376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Separa la lógica de generación de datos (Producer) de la lógica de procesamiento (Spark).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4" y="3435541"/>
            <a:ext cx="157163" cy="157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6618" y="3389821"/>
            <a:ext cx="347107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Simulación de </a:t>
            </a:r>
            <a:r>
              <a:rPr lang="en-US" sz="16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flujo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86618" y="3698788"/>
            <a:ext cx="3471070" cy="376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Permite ingerir eventos a la velocidad real del partido, garantizando el orden cronológico.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86313" y="1139428"/>
            <a:ext cx="3786188" cy="31136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14" name="Shape 9"/>
          <p:cNvSpPr/>
          <p:nvPr/>
        </p:nvSpPr>
        <p:spPr>
          <a:xfrm>
            <a:off x="4786313" y="1139428"/>
            <a:ext cx="3786188" cy="57150"/>
          </a:xfrm>
          <a:prstGeom prst="rect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s-ES" sz="20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672" y="1685423"/>
            <a:ext cx="321469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1905" y="2028323"/>
            <a:ext cx="117500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PYTHON PRODUCER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828" y="2235491"/>
            <a:ext cx="107156" cy="14287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8672" y="2464091"/>
            <a:ext cx="321469" cy="285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33771" y="2824336"/>
            <a:ext cx="89127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APACHE KAFKA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828" y="3014160"/>
            <a:ext cx="107156" cy="142875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3242760"/>
            <a:ext cx="214313" cy="2857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130377" y="3573254"/>
            <a:ext cx="109805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SPARK STREAMING</a:t>
            </a:r>
            <a:endParaRPr lang="en-US" sz="1000" dirty="0"/>
          </a:p>
        </p:txBody>
      </p:sp>
      <p:pic>
        <p:nvPicPr>
          <p:cNvPr id="23" name="Imagen 22" descr="Desvincular símbolo - Iconos gratis de web">
            <a:extLst>
              <a:ext uri="{FF2B5EF4-FFF2-40B4-BE49-F238E27FC236}">
                <a16:creationId xmlns:a16="http://schemas.microsoft.com/office/drawing/2014/main" id="{E960B187-41E5-E683-DE8D-3B824A04C6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299" y="2557998"/>
            <a:ext cx="157163" cy="157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SPARK: EL MOTOR DE ANÁLISIS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98318"/>
            <a:ext cx="344197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Procesamiento en </a:t>
            </a:r>
            <a:r>
              <a:rPr lang="en-US" sz="2000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vuelo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55518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5825" y="1955518"/>
            <a:ext cx="31276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Structured streaming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85825" y="2185904"/>
            <a:ext cx="3127651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Consumo continuo de eventos desde Kafka con latencia mínima.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31719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5825" y="2825939"/>
            <a:ext cx="31276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Limpieza</a:t>
            </a: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normalización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85825" y="3056325"/>
            <a:ext cx="3127651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Transformación de JSON crudo en esquemas estructurados y listos para análisis.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10" y="3699967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2635" y="3703845"/>
            <a:ext cx="31276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Ventanas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temporales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92635" y="3934231"/>
            <a:ext cx="3127651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Agregación de datos por intervalos para detectar tendencias durante el partido.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442101" y="1403747"/>
            <a:ext cx="1993748" cy="15100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15" name="Shape 9"/>
          <p:cNvSpPr/>
          <p:nvPr/>
        </p:nvSpPr>
        <p:spPr>
          <a:xfrm>
            <a:off x="4442101" y="1403747"/>
            <a:ext cx="1993748" cy="57150"/>
          </a:xfrm>
          <a:prstGeom prst="rect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s-ES" sz="200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6086" y="1546622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84976" y="2068116"/>
            <a:ext cx="170799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xG (Goles </a:t>
            </a:r>
            <a:r>
              <a:rPr lang="en-US" sz="1100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esperados</a:t>
            </a:r>
            <a:r>
              <a:rPr lang="en-US" sz="11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682617" y="2275284"/>
            <a:ext cx="1610357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Probabilidad de gol basada en la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ubicación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tipo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de tiro.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5438930" y="2566974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578724" y="1403747"/>
            <a:ext cx="1993776" cy="15100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21" name="Shape 14"/>
          <p:cNvSpPr/>
          <p:nvPr/>
        </p:nvSpPr>
        <p:spPr>
          <a:xfrm>
            <a:off x="6578724" y="1403747"/>
            <a:ext cx="1993776" cy="57150"/>
          </a:xfrm>
          <a:prstGeom prst="rect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s-ES" sz="200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2737" y="1546622"/>
            <a:ext cx="285750" cy="285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21599" y="2068116"/>
            <a:ext cx="170802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Precisión de </a:t>
            </a:r>
            <a:r>
              <a:rPr lang="en-US" sz="1100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pases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783860" y="2275284"/>
            <a:ext cx="158356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Ratio de pases completados vs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intentados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en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tiempo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real.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7575580" y="2532812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442101" y="3028113"/>
            <a:ext cx="1993748" cy="15386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7" name="Shape 19"/>
          <p:cNvSpPr/>
          <p:nvPr/>
        </p:nvSpPr>
        <p:spPr>
          <a:xfrm>
            <a:off x="4442101" y="3028113"/>
            <a:ext cx="1993748" cy="57150"/>
          </a:xfrm>
          <a:prstGeom prst="rect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s-ES" sz="280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8227" y="3170988"/>
            <a:ext cx="321469" cy="2857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84976" y="3692482"/>
            <a:ext cx="170799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Intensidad de </a:t>
            </a:r>
            <a:r>
              <a:rPr lang="en-US" sz="1100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presión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633796" y="3907172"/>
            <a:ext cx="1707997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Frecuencia de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acciones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defensivas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en campo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contrario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438929" y="4055027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578724" y="3028113"/>
            <a:ext cx="1993776" cy="15386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33" name="Shape 24"/>
          <p:cNvSpPr/>
          <p:nvPr/>
        </p:nvSpPr>
        <p:spPr>
          <a:xfrm>
            <a:off x="6578724" y="3028113"/>
            <a:ext cx="1993776" cy="57150"/>
          </a:xfrm>
          <a:prstGeom prst="rect">
            <a:avLst/>
          </a:prstGeom>
          <a:solidFill>
            <a:srgbClr val="D90429"/>
          </a:solidFill>
          <a:ln/>
        </p:spPr>
        <p:txBody>
          <a:bodyPr/>
          <a:lstStyle/>
          <a:p>
            <a:endParaRPr lang="es-ES" sz="280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8456" y="3199563"/>
            <a:ext cx="214313" cy="2857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21599" y="3692482"/>
            <a:ext cx="170802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Zonas de </a:t>
            </a:r>
            <a:r>
              <a:rPr lang="en-US" sz="1100" b="1" dirty="0" err="1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actuación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6671259" y="3906093"/>
            <a:ext cx="18087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Densidad posicional de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los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jugadores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por</a:t>
            </a:r>
            <a:r>
              <a:rPr lang="en-US" sz="10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zonas del campo.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IA CON PROPÓSITO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3747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1407319"/>
            <a:ext cx="567656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RAG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82403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2039541"/>
            <a:ext cx="362188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Recuperación</a:t>
            </a: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de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807244" y="2248495"/>
            <a:ext cx="3621881" cy="35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Extrae información histórica y táctica relevante de documentos externos para enriquecer los datos.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9969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7244" y="2747107"/>
            <a:ext cx="362188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Priorización</a:t>
            </a: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de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equipos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07244" y="2956061"/>
            <a:ext cx="3621881" cy="35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Filtra el conocimiento para centrarse exclusivamente en los protagonistas del partido analizado.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97535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7244" y="3454673"/>
            <a:ext cx="362188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Interpretación</a:t>
            </a: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táctica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07245" y="3663628"/>
            <a:ext cx="3391376" cy="35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Añade una capa de significado deportivo a las </a:t>
            </a:r>
            <a:r>
              <a:rPr lang="en-US" sz="105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métricas</a:t>
            </a: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calculadas</a:t>
            </a: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por Spark.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403747"/>
            <a:ext cx="321469" cy="2857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79219" y="1407319"/>
            <a:ext cx="179489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LANGGRAPH</a:t>
            </a:r>
            <a:endParaRPr lang="en-US" sz="24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082403"/>
            <a:ext cx="128588" cy="128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50619" y="2039541"/>
            <a:ext cx="362188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Control de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alucinaciones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4950619" y="2248495"/>
            <a:ext cx="3621881" cy="35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Garantiza que el modelo no invente métricas, forzando el uso de datos reales procesados.</a:t>
            </a:r>
            <a:endParaRPr lang="en-US" sz="10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789969"/>
            <a:ext cx="160734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982766" y="2747107"/>
            <a:ext cx="358973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Orquestación</a:t>
            </a: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de </a:t>
            </a:r>
            <a:r>
              <a:rPr lang="en-US" sz="12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agentes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4982766" y="2956061"/>
            <a:ext cx="3589734" cy="35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Coordina el flujo de trabajo entre agentes especializados para una salida coherente.</a:t>
            </a:r>
            <a:endParaRPr lang="en-US" sz="1050"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0C3C4078-DEFA-9527-EDB9-BF506F759753}"/>
              </a:ext>
            </a:extLst>
          </p:cNvPr>
          <p:cNvGrpSpPr/>
          <p:nvPr/>
        </p:nvGrpSpPr>
        <p:grpSpPr>
          <a:xfrm>
            <a:off x="4772027" y="3454004"/>
            <a:ext cx="3857625" cy="1479527"/>
            <a:chOff x="4714875" y="3454673"/>
            <a:chExt cx="3857625" cy="1574527"/>
          </a:xfrm>
        </p:grpSpPr>
        <p:sp>
          <p:nvSpPr>
            <p:cNvPr id="23" name="Shape 13"/>
            <p:cNvSpPr/>
            <p:nvPr/>
          </p:nvSpPr>
          <p:spPr>
            <a:xfrm>
              <a:off x="4714875" y="3454673"/>
              <a:ext cx="3857625" cy="1574527"/>
            </a:xfrm>
            <a:prstGeom prst="rect">
              <a:avLst/>
            </a:prstGeom>
            <a:solidFill>
              <a:srgbClr val="1A1A1A"/>
            </a:solidFill>
            <a:ln/>
          </p:spPr>
          <p:txBody>
            <a:bodyPr/>
            <a:lstStyle/>
            <a:p>
              <a:endParaRPr lang="es-ES" sz="2800" i="1"/>
            </a:p>
          </p:txBody>
        </p:sp>
        <p:sp>
          <p:nvSpPr>
            <p:cNvPr id="24" name="Text 14"/>
            <p:cNvSpPr/>
            <p:nvPr/>
          </p:nvSpPr>
          <p:spPr>
            <a:xfrm>
              <a:off x="4857750" y="3543458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Spark Metrics</a:t>
              </a:r>
              <a:endParaRPr lang="en-US" sz="1000" i="1" dirty="0">
                <a:solidFill>
                  <a:srgbClr val="EF233C"/>
                </a:solidFill>
              </a:endParaRPr>
            </a:p>
          </p:txBody>
        </p:sp>
        <p:sp>
          <p:nvSpPr>
            <p:cNvPr id="25" name="Text 15"/>
            <p:cNvSpPr/>
            <p:nvPr/>
          </p:nvSpPr>
          <p:spPr>
            <a:xfrm>
              <a:off x="4857750" y="3690223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F4F4F6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↓</a:t>
              </a:r>
              <a:endParaRPr lang="en-US" sz="1000" i="1" dirty="0"/>
            </a:p>
          </p:txBody>
        </p:sp>
        <p:sp>
          <p:nvSpPr>
            <p:cNvPr id="26" name="Text 16"/>
            <p:cNvSpPr/>
            <p:nvPr/>
          </p:nvSpPr>
          <p:spPr>
            <a:xfrm>
              <a:off x="4857750" y="3841626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 err="1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metrics_agent</a:t>
              </a:r>
              <a:endParaRPr lang="en-US" sz="1000" i="1" dirty="0">
                <a:solidFill>
                  <a:srgbClr val="EF233C"/>
                </a:solidFill>
              </a:endParaRPr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131E178C-4C2A-30D1-FA79-E292D68799CB}"/>
                </a:ext>
              </a:extLst>
            </p:cNvPr>
            <p:cNvSpPr/>
            <p:nvPr/>
          </p:nvSpPr>
          <p:spPr>
            <a:xfrm>
              <a:off x="4843463" y="4143115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 err="1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rag_agent</a:t>
              </a:r>
              <a:r>
                <a:rPr lang="en-US" sz="1000" i="1" dirty="0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 (Context Recovery)</a:t>
              </a:r>
              <a:endParaRPr lang="en-US" sz="1000" i="1" dirty="0">
                <a:solidFill>
                  <a:srgbClr val="EF233C"/>
                </a:solidFill>
              </a:endParaRPr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DB4A2327-7D2C-AC1F-F612-A014D1373E38}"/>
                </a:ext>
              </a:extLst>
            </p:cNvPr>
            <p:cNvSpPr/>
            <p:nvPr/>
          </p:nvSpPr>
          <p:spPr>
            <a:xfrm>
              <a:off x="4860084" y="4302080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F4F4F6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↓</a:t>
              </a:r>
              <a:endParaRPr lang="en-US" sz="1000" i="1" dirty="0"/>
            </a:p>
          </p:txBody>
        </p:sp>
        <p:sp>
          <p:nvSpPr>
            <p:cNvPr id="29" name="Text 16">
              <a:extLst>
                <a:ext uri="{FF2B5EF4-FFF2-40B4-BE49-F238E27FC236}">
                  <a16:creationId xmlns:a16="http://schemas.microsoft.com/office/drawing/2014/main" id="{787AF639-4994-7422-8B4B-CF954BEDC264}"/>
                </a:ext>
              </a:extLst>
            </p:cNvPr>
            <p:cNvSpPr/>
            <p:nvPr/>
          </p:nvSpPr>
          <p:spPr>
            <a:xfrm>
              <a:off x="4843462" y="4465602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 err="1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report_agent</a:t>
              </a:r>
              <a:r>
                <a:rPr lang="en-US" sz="1000" i="1" dirty="0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 (Report Generation)</a:t>
              </a:r>
              <a:endParaRPr lang="en-US" sz="1000" i="1" dirty="0">
                <a:solidFill>
                  <a:srgbClr val="EF233C"/>
                </a:solidFill>
              </a:endParaRPr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03EF9D2B-6F76-2292-90A5-6DD1BF348F96}"/>
                </a:ext>
              </a:extLst>
            </p:cNvPr>
            <p:cNvSpPr/>
            <p:nvPr/>
          </p:nvSpPr>
          <p:spPr>
            <a:xfrm>
              <a:off x="4857749" y="3989356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F4F4F6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↓</a:t>
              </a:r>
              <a:endParaRPr lang="en-US" sz="1000" i="1" dirty="0"/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A747A80F-51B9-BA69-C548-A14AC7827EBC}"/>
                </a:ext>
              </a:extLst>
            </p:cNvPr>
            <p:cNvSpPr/>
            <p:nvPr/>
          </p:nvSpPr>
          <p:spPr>
            <a:xfrm>
              <a:off x="4860084" y="4634571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F4F4F6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↓</a:t>
              </a:r>
              <a:endParaRPr lang="en-US" sz="1000" i="1" dirty="0"/>
            </a:p>
          </p:txBody>
        </p:sp>
        <p:sp>
          <p:nvSpPr>
            <p:cNvPr id="32" name="Text 16">
              <a:extLst>
                <a:ext uri="{FF2B5EF4-FFF2-40B4-BE49-F238E27FC236}">
                  <a16:creationId xmlns:a16="http://schemas.microsoft.com/office/drawing/2014/main" id="{7C12881B-0466-2A5C-B868-765E4EBFD0EE}"/>
                </a:ext>
              </a:extLst>
            </p:cNvPr>
            <p:cNvSpPr/>
            <p:nvPr/>
          </p:nvSpPr>
          <p:spPr>
            <a:xfrm>
              <a:off x="4843462" y="4797607"/>
              <a:ext cx="3571875" cy="163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00" i="1" dirty="0" err="1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persistence_agent</a:t>
              </a:r>
              <a:r>
                <a:rPr lang="en-US" sz="1000" i="1" dirty="0">
                  <a:solidFill>
                    <a:srgbClr val="EF233C"/>
                  </a:solidFill>
                  <a:latin typeface="Abadi" panose="020B0604020104020204" pitchFamily="34" charset="0"/>
                  <a:ea typeface="Courier New" pitchFamily="34" charset="-122"/>
                  <a:cs typeface="Courier New" pitchFamily="34" charset="-120"/>
                </a:rPr>
                <a:t> (HTML / Markdown Output)</a:t>
              </a:r>
              <a:endParaRPr lang="en-US" sz="1000" i="1" dirty="0">
                <a:solidFill>
                  <a:srgbClr val="EF233C"/>
                </a:solidFill>
              </a:endParaRPr>
            </a:p>
          </p:txBody>
        </p:sp>
      </p:grpSp>
      <p:sp>
        <p:nvSpPr>
          <p:cNvPr id="34" name="Shape 10">
            <a:extLst>
              <a:ext uri="{FF2B5EF4-FFF2-40B4-BE49-F238E27FC236}">
                <a16:creationId xmlns:a16="http://schemas.microsoft.com/office/drawing/2014/main" id="{CE2D254E-BF66-BF39-E19C-2C4FEEAA5BFE}"/>
              </a:ext>
            </a:extLst>
          </p:cNvPr>
          <p:cNvSpPr/>
          <p:nvPr/>
        </p:nvSpPr>
        <p:spPr>
          <a:xfrm>
            <a:off x="4714875" y="3454673"/>
            <a:ext cx="57150" cy="1478858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ES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DEMOSTRACIÓN DEL FLUJO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32322"/>
            <a:ext cx="321469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5844" y="1432322"/>
            <a:ext cx="34290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1. Inyección de </a:t>
            </a:r>
            <a:r>
              <a:rPr lang="en-US" sz="14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eventos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35844" y="1641277"/>
            <a:ext cx="3429000" cy="345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El Producer Python lee el dataset StatsBomb y envía ráfagas de JSON a Kafka.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459067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07781" y="1432322"/>
            <a:ext cx="346471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2. Procesamiento spark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107781" y="1641277"/>
            <a:ext cx="3464719" cy="345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Spark Structured Streaming consume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los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eventos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limpia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datos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y calcula métricas en tiempo real.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24174"/>
            <a:ext cx="321469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35844" y="2324174"/>
            <a:ext cx="34290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3. </a:t>
            </a:r>
            <a:r>
              <a:rPr lang="en-US" sz="14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Persistencia</a:t>
            </a:r>
            <a:r>
              <a:rPr lang="en-US" sz="1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 parquet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035844" y="2533129"/>
            <a:ext cx="3429000" cy="345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Los resultados se almacenan en /output/aggregates con particionamiento eficiente.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2324174"/>
            <a:ext cx="357188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79219" y="2324174"/>
            <a:ext cx="33932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4. Generación de </a:t>
            </a:r>
            <a:r>
              <a:rPr lang="en-US" sz="1400" b="1" dirty="0" err="1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informe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179219" y="2533129"/>
            <a:ext cx="3393281" cy="345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LangGraph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coordina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a los agentes para redactar el análisis táctico final.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71500" y="3282925"/>
            <a:ext cx="8001000" cy="1428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7" name="Shape 10"/>
          <p:cNvSpPr/>
          <p:nvPr/>
        </p:nvSpPr>
        <p:spPr>
          <a:xfrm>
            <a:off x="571500" y="3282925"/>
            <a:ext cx="57150" cy="142875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8" name="Text 11"/>
          <p:cNvSpPr/>
          <p:nvPr/>
        </p:nvSpPr>
        <p:spPr>
          <a:xfrm>
            <a:off x="785813" y="3371508"/>
            <a:ext cx="757237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RESULTADO FINAL: INFORME TÁCTICO AUTOMATIZADO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785813" y="3635827"/>
            <a:ext cx="757237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[INFO] Spark Structured Streaming </a:t>
            </a:r>
            <a:r>
              <a:rPr lang="en-US" sz="900" i="1" dirty="0" err="1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procesó</a:t>
            </a:r>
            <a:r>
              <a:rPr lang="en-U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3398 </a:t>
            </a:r>
            <a:r>
              <a:rPr lang="en-US" sz="900" i="1" dirty="0" err="1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eventos</a:t>
            </a:r>
            <a:r>
              <a:rPr lang="en-U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StatsBomb </a:t>
            </a:r>
            <a:r>
              <a:rPr lang="en-US" sz="900" i="1" dirty="0" err="1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desde</a:t>
            </a:r>
            <a:r>
              <a:rPr lang="en-U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Kafka.</a:t>
            </a:r>
            <a:endParaRPr lang="en-US" sz="900" i="1" dirty="0"/>
          </a:p>
        </p:txBody>
      </p:sp>
      <p:sp>
        <p:nvSpPr>
          <p:cNvPr id="20" name="Text 13"/>
          <p:cNvSpPr/>
          <p:nvPr/>
        </p:nvSpPr>
        <p:spPr>
          <a:xfrm>
            <a:off x="785813" y="3850139"/>
            <a:ext cx="757237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[INFO] </a:t>
            </a:r>
            <a:r>
              <a:rPr lang="es-ES" sz="900" i="1" dirty="0" err="1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r>
              <a:rPr lang="es-E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coordinó métricas, recuperación RAG y generación del informe.</a:t>
            </a:r>
            <a:endParaRPr lang="en-US" sz="900" i="1" dirty="0"/>
          </a:p>
        </p:txBody>
      </p:sp>
      <p:sp>
        <p:nvSpPr>
          <p:cNvPr id="21" name="Text 14"/>
          <p:cNvSpPr/>
          <p:nvPr/>
        </p:nvSpPr>
        <p:spPr>
          <a:xfrm>
            <a:off x="785813" y="4247332"/>
            <a:ext cx="757237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[SUCCESS] </a:t>
            </a:r>
            <a:r>
              <a:rPr lang="en-US" sz="900" b="1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report_3946405_events.html </a:t>
            </a:r>
            <a:r>
              <a:rPr lang="en-US" sz="900" i="1" dirty="0" err="1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generado</a:t>
            </a:r>
            <a:r>
              <a:rPr lang="en-U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correctamente.</a:t>
            </a:r>
            <a:endParaRPr lang="en-US" sz="900" i="1" dirty="0"/>
          </a:p>
        </p:txBody>
      </p:sp>
      <p:sp>
        <p:nvSpPr>
          <p:cNvPr id="22" name="Text 15"/>
          <p:cNvSpPr/>
          <p:nvPr/>
        </p:nvSpPr>
        <p:spPr>
          <a:xfrm>
            <a:off x="785813" y="4461644"/>
            <a:ext cx="790098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Métricas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destacadas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: xG total: 2,254 | 989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pases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analizados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| 288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presiones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detectadas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máxima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 err="1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intensidad</a:t>
            </a:r>
            <a:r>
              <a:rPr lang="en-US" sz="900" i="1" dirty="0">
                <a:solidFill>
                  <a:srgbClr val="EF233C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: Sevilla min 50-55</a:t>
            </a:r>
            <a:endParaRPr lang="en-US" sz="900" i="1" dirty="0">
              <a:solidFill>
                <a:srgbClr val="EF233C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609C4AC-CA06-14BA-47D0-36E9FD0BA4EA}"/>
              </a:ext>
            </a:extLst>
          </p:cNvPr>
          <p:cNvSpPr/>
          <p:nvPr/>
        </p:nvSpPr>
        <p:spPr>
          <a:xfrm>
            <a:off x="785812" y="4033020"/>
            <a:ext cx="757237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i="1" dirty="0">
                <a:solidFill>
                  <a:srgbClr val="F4F4F6"/>
                </a:solidFill>
                <a:latin typeface="Abadi" panose="020B0604020104020204" pitchFamily="34" charset="0"/>
                <a:ea typeface="Courier New" pitchFamily="34" charset="-122"/>
                <a:cs typeface="Courier New" pitchFamily="34" charset="-120"/>
              </a:rPr>
              <a:t>[INFO] Contexto documental recuperado: Sevilla | Villarreal | Métricas StatsBomb | Lectura táctica</a:t>
            </a:r>
            <a:endParaRPr lang="en-US" sz="9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A244EB83-B4D7-AB79-162B-B525990E1D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" name="Image 0" descr="preencoded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144000" cy="4942114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8861012-EC7F-ADEC-7254-245A21BC683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863506"/>
              <a:ext cx="9144000" cy="279994"/>
            </a:xfrm>
            <a:prstGeom prst="rect">
              <a:avLst/>
            </a:prstGeom>
          </p:spPr>
        </p:pic>
      </p:grpSp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RESULTADOS E IMPACTO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03747"/>
            <a:ext cx="428625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157075"/>
            <a:ext cx="38576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PIPELINE END-TO-END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71500" y="2494617"/>
            <a:ext cx="3857625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Sistema completamente funcional desde la ingesta de eventos crudos hasta la generación de informes tácticos.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403747"/>
            <a:ext cx="321469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4875" y="2157075"/>
            <a:ext cx="38576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STREAMING “REAL-TIME”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4714875" y="2494617"/>
            <a:ext cx="3857625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Procesamiento de eventos con latencia mínima, permitiendo análisis durante el transcurso del partido.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14646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500" y="4060817"/>
            <a:ext cx="38576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IA LOCAL Y PRIVADA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571500" y="4398360"/>
            <a:ext cx="3857625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Uso de Ollama para ejecutar modelos de lenguaje localmente, eliminando costes de API y garantizando privacidad.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3314646"/>
            <a:ext cx="482203" cy="428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14875" y="4060817"/>
            <a:ext cx="38576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ARQUITECTURA DOCKER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4714875" y="4398360"/>
            <a:ext cx="3857625" cy="36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Entorno totalmente contenedorizado que garantiza la reproducibilidad y facilidad de despliegue en cualquier sistema.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DECISIONES DE INGENIERÍA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32309"/>
            <a:ext cx="2524116" cy="16644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5" name="Shape 2"/>
          <p:cNvSpPr/>
          <p:nvPr/>
        </p:nvSpPr>
        <p:spPr>
          <a:xfrm>
            <a:off x="571500" y="1332309"/>
            <a:ext cx="2524116" cy="571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28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10903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1975247"/>
            <a:ext cx="223836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14375" y="2203847"/>
            <a:ext cx="2238366" cy="5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Garantiza la reproducibilidad total del entorno de Big Data e IA en cualquier máquina.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309928" y="1332309"/>
            <a:ext cx="2524116" cy="16644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0" name="Shape 6"/>
          <p:cNvSpPr/>
          <p:nvPr/>
        </p:nvSpPr>
        <p:spPr>
          <a:xfrm>
            <a:off x="3309928" y="1332309"/>
            <a:ext cx="2524116" cy="571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28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803" y="151090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52803" y="1975247"/>
            <a:ext cx="223836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FORMATO PARQUET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452803" y="2203847"/>
            <a:ext cx="2238366" cy="5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Almacenamiento columnar eficiente para consultas analíticas rápidas sobre métricas deportivas.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048356" y="1332309"/>
            <a:ext cx="2524144" cy="16644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5" name="Shape 10"/>
          <p:cNvSpPr/>
          <p:nvPr/>
        </p:nvSpPr>
        <p:spPr>
          <a:xfrm>
            <a:off x="6048356" y="1332309"/>
            <a:ext cx="2524144" cy="571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28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31" y="1510903"/>
            <a:ext cx="17145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1231" y="1975247"/>
            <a:ext cx="22383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SPARK STREAMING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191231" y="2203847"/>
            <a:ext cx="2238394" cy="5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Elegido por su capacidad de escalabilidad horizontal y procesamiento nativo de streams.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71500" y="3211116"/>
            <a:ext cx="2524116" cy="16644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0" name="Shape 14"/>
          <p:cNvSpPr/>
          <p:nvPr/>
        </p:nvSpPr>
        <p:spPr>
          <a:xfrm>
            <a:off x="571500" y="3211116"/>
            <a:ext cx="2524116" cy="571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32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389709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4375" y="3854053"/>
            <a:ext cx="223836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</a:rPr>
              <a:t>TERM FREQUENCY – INVERSE DOCUMENT FREQUENCY LOCAL</a:t>
            </a:r>
          </a:p>
        </p:txBody>
      </p:sp>
      <p:sp>
        <p:nvSpPr>
          <p:cNvPr id="23" name="Text 16"/>
          <p:cNvSpPr/>
          <p:nvPr/>
        </p:nvSpPr>
        <p:spPr>
          <a:xfrm>
            <a:off x="714375" y="4222654"/>
            <a:ext cx="2238366" cy="5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Implementación de RAG ligera y sin dependencias externas para búsqueda de contexto táctico.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309928" y="3211116"/>
            <a:ext cx="2524116" cy="16644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5" name="Shape 18"/>
          <p:cNvSpPr/>
          <p:nvPr/>
        </p:nvSpPr>
        <p:spPr>
          <a:xfrm>
            <a:off x="3309928" y="3211116"/>
            <a:ext cx="2524116" cy="571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320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2803" y="3389709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2803" y="3854053"/>
            <a:ext cx="223836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OLLAMA (LOCAL)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3452803" y="4082653"/>
            <a:ext cx="2238366" cy="5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Ejecución de LLMs en local para asegurar privacidad de datos y eliminar costes de API.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048356" y="3211116"/>
            <a:ext cx="2524144" cy="16644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0" name="Shape 22"/>
          <p:cNvSpPr/>
          <p:nvPr/>
        </p:nvSpPr>
        <p:spPr>
          <a:xfrm>
            <a:off x="6048356" y="3211116"/>
            <a:ext cx="2524144" cy="571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 sz="320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31" y="3389709"/>
            <a:ext cx="28575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91231" y="3796903"/>
            <a:ext cx="22383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ARQUITECTURA AGENTES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191231" y="4025503"/>
            <a:ext cx="2238394" cy="5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Separación de responsabilidades con LangGraph para evitar alucinaciones del modelo.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CONCLUSIONES Y FUTURO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906" y="1546622"/>
            <a:ext cx="428625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656" y="2347861"/>
            <a:ext cx="21431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SPARK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71500" y="2685403"/>
            <a:ext cx="2464594" cy="17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Los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datos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en tiempo real.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6094" y="1963276"/>
            <a:ext cx="250031" cy="2857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636616"/>
            <a:ext cx="571500" cy="571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500438" y="2350991"/>
            <a:ext cx="21431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RAG</a:t>
            </a: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3333731" y="2688534"/>
            <a:ext cx="2476509" cy="17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El contexto táctico e histórico.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1963276"/>
            <a:ext cx="250031" cy="28575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313" y="1636616"/>
            <a:ext cx="642938" cy="5715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322219" y="2350991"/>
            <a:ext cx="21431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F233C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LANGGRAPH</a:t>
            </a:r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6095991" y="2688533"/>
            <a:ext cx="2476481" cy="17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La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ordanización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1100" dirty="0" err="1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generación</a:t>
            </a:r>
            <a:r>
              <a:rPr lang="en-US" sz="110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 final.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571500" y="3972985"/>
            <a:ext cx="247648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571500" y="4260521"/>
            <a:ext cx="2476481" cy="329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Arquitectura preparada para procesar múltiples partidos en paralelo.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3333731" y="3972985"/>
            <a:ext cx="247650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IA AVANZADA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3333731" y="4260521"/>
            <a:ext cx="2476509" cy="329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Integración de modelos de visión para análisis de video directo.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6095991" y="3972985"/>
            <a:ext cx="247648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badi" panose="020B0604020104020204" pitchFamily="34" charset="0"/>
                <a:ea typeface="Montserrat Black" pitchFamily="34" charset="-122"/>
                <a:cs typeface="Montserrat Black" pitchFamily="34" charset="-120"/>
              </a:rPr>
              <a:t>VISUALIZACIÓN REAL-TIME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095991" y="4260521"/>
            <a:ext cx="2476481" cy="49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s-ES" sz="1050" dirty="0">
                <a:solidFill>
                  <a:srgbClr val="4D4D4D"/>
                </a:solidFill>
                <a:latin typeface="Abadi" panose="020B0604020104020204" pitchFamily="34" charset="0"/>
                <a:ea typeface="Open Sans" pitchFamily="34" charset="-122"/>
                <a:cs typeface="Open Sans" pitchFamily="34" charset="-120"/>
              </a:rPr>
              <a:t>Integración futura de dashboards interactivos permitiendo seguimiento táctico en directo</a:t>
            </a:r>
            <a:endParaRPr lang="en-US" sz="1050" dirty="0">
              <a:solidFill>
                <a:srgbClr val="4D4D4D"/>
              </a:solidFill>
              <a:latin typeface="Abadi" panose="020B0604020104020204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950</Words>
  <Application>Microsoft Office PowerPoint</Application>
  <PresentationFormat>Presentación en pantalla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Abadi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Sara Mas Vallejo</dc:creator>
  <cp:lastModifiedBy>Sara Mas Vallejo</cp:lastModifiedBy>
  <cp:revision>22</cp:revision>
  <dcterms:created xsi:type="dcterms:W3CDTF">2026-05-12T09:50:20Z</dcterms:created>
  <dcterms:modified xsi:type="dcterms:W3CDTF">2026-05-14T12:50:05Z</dcterms:modified>
</cp:coreProperties>
</file>